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E6F00-AC5D-A748-980C-AE8194F3ADA7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4CAEFA-CB5C-294D-9AD8-2868F2DCA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15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the topic: Serverless Computing, and how it reduces infrastructure management in the cloud. Briefly mention this is part of a Cloud Computing seminar and introduce yourself using the details on screen. (approx. 30-40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defining cloud computing as on-demand delivery of computing resources over the internet. Explain that traditionally, teams had to provision, configure, and maintain their own servers. Highlight the pain points: scaling manually for traffic spikes, wasted resources during idle time, and constant maintenance overhead. End by framing serverless computing as the solution born from these challenges. (approx. 45-50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serverless computing clearly: it does not mean there are no servers, but that developers do not manage them directly. The cloud provider handles provisioning, scaling, and maintenance automatically, and code only runs — and is billed — when triggered by an event. Emphasize the key idea: "Focus on code, not infrastructure." (approx. 45-50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comparison table row by row: server management, scaling, maintenance, infrastructure responsibility, cost, and developer effort. Emphasize that traditional cloud still requires the user to manage a layer of infrastructure, while serverless shifts that entirely to the provider, reducing developer effort significantly. (approx. 50-60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flow diagram left to right: a user sends a request, which reaches an API Gateway or triggers an event; this invokes a serverless function that executes the required logic; the function may read or write to a database or cloud storage; finally a response is returned to the user. Stress that the function exists only for the duration of execution. (approx. 50-60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architecture diagram: the client communicates through an API Gateway or event trigger, which invokes the FaaS (Function-as-a-Service) layer. The function interacts with a database and/or cloud storage, while monitoring and security services operate across all layers. Briefly explain each component listed on the right: FaaS, API Gateway, Database, Storage, and Event Services. (approx. 55-60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advantage briefly: reduced infrastructure management means no server upkeep; automatic scaling handles traffic spikes seamlessly; cost efficiency comes from paying only for execution time; faster development and easy deployment let teams ship quickly; and high availability comes built-in from the provider's global infrastructure. (approx. 45-50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each challenge concisely: cold start causes a brief delay when a function wakes from idle; vendor lock-in makes migration between providers difficult; debugging distributed functions is harder than monolithic apps; execution time and memory limits restrict long-running tasks; security concerns arise from a larger, distributed attack surface; and monitoring many small functions adds operational complexity. (approx. 45-50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common real-world applications: web APIs, mobile backends, image processing, IoT, chatbots, and data processing. Then walk through the image-processing example step by step: a user uploads an image to cloud storage, which triggers an event, invoking a serverless function that resizes or compresses the image and stores the result. Explain why serverless fits well here — uploads are unpredictable and bursty, so paying only for actual processing time and scaling automatically is ideal. (approx. 55-60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takeaways: serverless computing reduces infrastructure management, lets developers focus on application logic, scales automatically, and uses resources efficiently — making it an important cloud-native technology. Mention future directions such as combining serverless with AI/ML, IoT, and edge computing, along with ongoing improvements in performance and security. Close by thanking the audience and inviting questions. (approx. 40-50 seconds)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7" Type="http://schemas.openxmlformats.org/officeDocument/2006/relationships/image" Target="../media/image5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7" Type="http://schemas.openxmlformats.org/officeDocument/2006/relationships/image" Target="../media/image8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.png" /><Relationship Id="rId5" Type="http://schemas.openxmlformats.org/officeDocument/2006/relationships/image" Target="../media/image4.png" /><Relationship Id="rId4" Type="http://schemas.openxmlformats.org/officeDocument/2006/relationships/image" Target="../media/image1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3" Type="http://schemas.openxmlformats.org/officeDocument/2006/relationships/image" Target="../media/image9.png" /><Relationship Id="rId7" Type="http://schemas.openxmlformats.org/officeDocument/2006/relationships/image" Target="../media/image1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 /><Relationship Id="rId13" Type="http://schemas.openxmlformats.org/officeDocument/2006/relationships/image" Target="../media/image19.png" /><Relationship Id="rId3" Type="http://schemas.openxmlformats.org/officeDocument/2006/relationships/image" Target="../media/image9.png" /><Relationship Id="rId7" Type="http://schemas.openxmlformats.org/officeDocument/2006/relationships/image" Target="../media/image15.png" /><Relationship Id="rId12" Type="http://schemas.openxmlformats.org/officeDocument/2006/relationships/image" Target="../media/image18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png" /><Relationship Id="rId11" Type="http://schemas.openxmlformats.org/officeDocument/2006/relationships/image" Target="../media/image3.png" /><Relationship Id="rId5" Type="http://schemas.openxmlformats.org/officeDocument/2006/relationships/image" Target="../media/image11.png" /><Relationship Id="rId15" Type="http://schemas.openxmlformats.org/officeDocument/2006/relationships/image" Target="../media/image21.png" /><Relationship Id="rId10" Type="http://schemas.openxmlformats.org/officeDocument/2006/relationships/image" Target="../media/image17.png" /><Relationship Id="rId4" Type="http://schemas.openxmlformats.org/officeDocument/2006/relationships/image" Target="../media/image10.png" /><Relationship Id="rId9" Type="http://schemas.openxmlformats.org/officeDocument/2006/relationships/image" Target="../media/image16.png" /><Relationship Id="rId14" Type="http://schemas.openxmlformats.org/officeDocument/2006/relationships/image" Target="../media/image20.pn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 /><Relationship Id="rId3" Type="http://schemas.openxmlformats.org/officeDocument/2006/relationships/image" Target="../media/image22.png" /><Relationship Id="rId7" Type="http://schemas.openxmlformats.org/officeDocument/2006/relationships/image" Target="../media/image14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.png" /><Relationship Id="rId5" Type="http://schemas.openxmlformats.org/officeDocument/2006/relationships/image" Target="../media/image24.png" /><Relationship Id="rId4" Type="http://schemas.openxmlformats.org/officeDocument/2006/relationships/image" Target="../media/image23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 /><Relationship Id="rId3" Type="http://schemas.openxmlformats.org/officeDocument/2006/relationships/image" Target="../media/image26.png" /><Relationship Id="rId7" Type="http://schemas.openxmlformats.org/officeDocument/2006/relationships/image" Target="../media/image25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9.png" /><Relationship Id="rId5" Type="http://schemas.openxmlformats.org/officeDocument/2006/relationships/image" Target="../media/image28.png" /><Relationship Id="rId4" Type="http://schemas.openxmlformats.org/officeDocument/2006/relationships/image" Target="../media/image27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 /><Relationship Id="rId13" Type="http://schemas.openxmlformats.org/officeDocument/2006/relationships/image" Target="../media/image15.png" /><Relationship Id="rId3" Type="http://schemas.openxmlformats.org/officeDocument/2006/relationships/image" Target="../media/image11.png" /><Relationship Id="rId7" Type="http://schemas.openxmlformats.org/officeDocument/2006/relationships/image" Target="../media/image34.png" /><Relationship Id="rId12" Type="http://schemas.openxmlformats.org/officeDocument/2006/relationships/image" Target="../media/image1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3.png" /><Relationship Id="rId11" Type="http://schemas.openxmlformats.org/officeDocument/2006/relationships/image" Target="../media/image16.png" /><Relationship Id="rId5" Type="http://schemas.openxmlformats.org/officeDocument/2006/relationships/image" Target="../media/image32.png" /><Relationship Id="rId10" Type="http://schemas.openxmlformats.org/officeDocument/2006/relationships/image" Target="../media/image10.png" /><Relationship Id="rId4" Type="http://schemas.openxmlformats.org/officeDocument/2006/relationships/image" Target="../media/image31.png" /><Relationship Id="rId9" Type="http://schemas.openxmlformats.org/officeDocument/2006/relationships/image" Target="../media/image9.png" /><Relationship Id="rId14" Type="http://schemas.openxmlformats.org/officeDocument/2006/relationships/image" Target="../media/image14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 /><Relationship Id="rId3" Type="http://schemas.openxmlformats.org/officeDocument/2006/relationships/image" Target="../media/image14.png" /><Relationship Id="rId7" Type="http://schemas.openxmlformats.org/officeDocument/2006/relationships/image" Target="../media/image25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7.png" /><Relationship Id="rId5" Type="http://schemas.openxmlformats.org/officeDocument/2006/relationships/image" Target="../media/image33.png" /><Relationship Id="rId4" Type="http://schemas.openxmlformats.org/officeDocument/2006/relationships/image" Target="../media/image3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2A247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365760"/>
            <a:ext cx="2377440" cy="2377440"/>
          </a:xfrm>
          <a:prstGeom prst="ellipse">
            <a:avLst/>
          </a:prstGeom>
          <a:solidFill>
            <a:srgbClr val="1B1657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2A247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731520"/>
            <a:ext cx="1371600" cy="137160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6" name="Image 0" descr="/home/claude/serverless_ppt/icons/cloud_00E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07442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SEMINAR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Computing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21792" y="3611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Infrastructure Management in the Cloud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4690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</a:t>
            </a:r>
            <a:r>
              <a:rPr lang="en-IN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Jayaanand</a:t>
            </a:r>
            <a:r>
              <a:rPr lang="en-IN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5321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Number:  </a:t>
            </a:r>
            <a:r>
              <a:rPr lang="en-IN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192521493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680" y="56144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r>
              <a:rPr lang="en-IN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IN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59070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College:  </a:t>
            </a:r>
            <a:r>
              <a:rPr lang="en-IN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SIMATS Engineering 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38114-59D0-A652-8F25-EFA91770C321}"/>
              </a:ext>
            </a:extLst>
          </p:cNvPr>
          <p:cNvSpPr txBox="1"/>
          <p:nvPr/>
        </p:nvSpPr>
        <p:spPr>
          <a:xfrm>
            <a:off x="5075652" y="2461470"/>
            <a:ext cx="3702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>
                <a:solidFill>
                  <a:schemeClr val="bg1"/>
                </a:solidFill>
              </a:rPr>
              <a:t>      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The Need for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" y="1563624"/>
            <a:ext cx="658368" cy="658368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5" name="Image 0" descr="/home/claude/serverless_ppt/icons/cloud_00E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2821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002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 Computing?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63040" y="19110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delivery of computing power, storage, and services over the internet.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30936" y="2496312"/>
            <a:ext cx="658368" cy="658368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9" name="Image 1" descr="/home/claude/serverless_ppt/icons/server_00E5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66090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3288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Infrastructure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63040" y="284378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provisioned and ran their own physical or virtual servers.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0936" y="3429000"/>
            <a:ext cx="658368" cy="658368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13" name="Image 2" descr="/home/claude/serverless_ppt/icons/gear_00E5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59359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465576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&amp; Maintenance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63040" y="37764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manually configured, patched, and maintained servers around the clock.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0936" y="4361688"/>
            <a:ext cx="658368" cy="658368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17" name="Image 3" descr="/home/claude/serverless_ppt/icons/expand_00E5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52628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39826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Problems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463040" y="47091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load is hard — under-provisioning causes crashes, over-provisioning wastes money.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30936" y="5294376"/>
            <a:ext cx="658368" cy="658368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21" name="Image 4" descr="/home/claude/serverless_ppt/icons/chart_00E5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545896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533095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Serverless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1463040" y="564184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where infrastructure concerns fade away and developers focus on code.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Serverless Computing?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1417320"/>
          </a:xfrm>
          <a:prstGeom prst="rect">
            <a:avLst/>
          </a:prstGeom>
          <a:solidFill>
            <a:srgbClr val="2A247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execution model where the provider dynamically manages servers, allocating resources automatically and running code only in response to events.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2940" y="3214116"/>
            <a:ext cx="502920" cy="50292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8" name="Image 0" descr="/home/claude/serverless_ppt/icons/check_00E5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7" y="3327273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32461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server management by developers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62940" y="3762756"/>
            <a:ext cx="502920" cy="50292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11" name="Image 1" descr="/home/claude/serverless_ppt/icons/cloud_00E5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97" y="3875913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7947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manages infrastructure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62940" y="4311396"/>
            <a:ext cx="502920" cy="50292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14" name="Image 2" descr="/home/claude/serverless_ppt/icons/expand_00E5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97" y="4424553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43434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resource allocation &amp; scaling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62940" y="4860036"/>
            <a:ext cx="502920" cy="50292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17" name="Image 3" descr="/home/claude/serverless_ppt/icons/dollar_00E5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097" y="4973193"/>
            <a:ext cx="276606" cy="27660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892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(pay-per-execution) billing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269480" y="1554480"/>
            <a:ext cx="4343400" cy="4160520"/>
          </a:xfrm>
          <a:prstGeom prst="roundRect">
            <a:avLst>
              <a:gd name="adj" fmla="val 2637"/>
            </a:avLst>
          </a:prstGeom>
          <a:solidFill>
            <a:srgbClr val="1B1657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025128" y="1920240"/>
            <a:ext cx="822960" cy="82296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1" name="Image 4" descr="/home/claude/serverless_ppt/icons/rocket_1A14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0868" y="21259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89520" y="2926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589520" y="324612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“Focus on code,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infrastructure.”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7818120" y="4663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does not mean no servers — it means developers never provision or manage them.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Cloud vs. Serverless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Cloud (IaaS)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Computing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Management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— user configures VMs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provider fully manages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rule-based scaling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Automatic, instant, per-request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patches OS &amp; 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entirely by provider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Infra. Responsibility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— user manages a 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owns all infrastructure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Resource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for reserved capacity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 only for actual 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6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Effort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ops +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9C0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mostly application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210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C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Serverless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8884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 w="15875">
            <a:solidFill>
              <a:srgbClr val="5B7C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68400" y="2505456"/>
            <a:ext cx="566928" cy="56692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6" name="Image 0" descr="/home/claude/serverless_ppt/icons/user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132" y="26471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2036" y="31546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60324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a request 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8884" y="1901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0" name="Image 1" descr="/home/claude/serverless_ppt/icons/arrowRight_00E5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556" y="323697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90876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 w="15875">
            <a:solidFill>
              <a:srgbClr val="5B7C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90392" y="2505456"/>
            <a:ext cx="566928" cy="56692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3" name="Image 2" descr="/home/claude/serverless_ppt/icons/plug_1A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124" y="264718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64028" y="31546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/ Event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982316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request 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trigger event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890876" y="1901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7" name="Image 3" descr="/home/claude/serverless_ppt/icons/arrowRight_00E5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548" y="3236976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12868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352E85"/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812384" y="2505456"/>
            <a:ext cx="566928" cy="56692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0" name="Image 4" descr="/home/claude/serverless_ppt/icons/bolt_1A14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4116" y="2647188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86020" y="31546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204308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spins up code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execute logic (FaaS)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112868" y="1901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4" name="Image 5" descr="/home/claude/serverless_ppt/icons/arrowRight_00E5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540" y="3236976"/>
            <a:ext cx="292608" cy="29260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34860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 w="15875">
            <a:solidFill>
              <a:srgbClr val="5B7CFA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034376" y="2505456"/>
            <a:ext cx="566928" cy="56692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7" name="Image 6" descr="/home/claude/serverless_ppt/icons/database_1A14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6108" y="2647188"/>
            <a:ext cx="283464" cy="28346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08012" y="31546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Storage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742630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reads 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data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7334860" y="1901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31" name="Image 7" descr="/home/claude/serverless_ppt/icons/arrowRight_00E5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532" y="3236976"/>
            <a:ext cx="292608" cy="292608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556852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 w="15875">
            <a:solidFill>
              <a:srgbClr val="5B7CFA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10256368" y="2505456"/>
            <a:ext cx="566928" cy="56692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34" name="Image 8" descr="/home/claude/serverless_ppt/icons/check_1A14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8100" y="2647188"/>
            <a:ext cx="283464" cy="28346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9630004" y="3154680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36" name="Text 25"/>
          <p:cNvSpPr/>
          <p:nvPr/>
        </p:nvSpPr>
        <p:spPr>
          <a:xfrm>
            <a:off x="9648292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user</a:t>
            </a:r>
            <a:endParaRPr lang="en-US" sz="1050" dirty="0"/>
          </a:p>
        </p:txBody>
      </p:sp>
      <p:sp>
        <p:nvSpPr>
          <p:cNvPr id="37" name="Text 26"/>
          <p:cNvSpPr/>
          <p:nvPr/>
        </p:nvSpPr>
        <p:spPr>
          <a:xfrm>
            <a:off x="9556852" y="19019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run only when triggered, execute the required logic, and shut down automatically — no idle servers, no manual scaling.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Architecture &amp;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B1657"/>
          </a:solidFill>
          <a:ln w="13970">
            <a:solidFill>
              <a:srgbClr val="5B7C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213969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6" name="Image 0" descr="/home/claude/serverless_ppt/icons/user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71" y="2226107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205740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</p:txBody>
      </p:sp>
      <p:pic>
        <p:nvPicPr>
          <p:cNvPr id="8" name="Image 1" descr="/home/claude/serverless_ppt/icons/arrowRight_00E5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2221992"/>
            <a:ext cx="219456" cy="2194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34640" y="150876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B1657"/>
          </a:solidFill>
          <a:ln w="13970">
            <a:solidFill>
              <a:srgbClr val="5B7CF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926080" y="159105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1" name="Image 2" descr="/home/claude/serverless_ppt/icons/plug_1A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491" y="1677467"/>
            <a:ext cx="211226" cy="2112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01568" y="15087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2834640" y="260604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1B1657"/>
          </a:solidFill>
          <a:ln w="13970">
            <a:solidFill>
              <a:srgbClr val="5B7CF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926080" y="268833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5" name="Image 3" descr="/home/claude/serverless_ppt/icons/bolt_1A14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2491" y="2774747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01568" y="260604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Trigger</a:t>
            </a:r>
            <a:endParaRPr lang="en-US" sz="1150" dirty="0"/>
          </a:p>
        </p:txBody>
      </p:sp>
      <p:pic>
        <p:nvPicPr>
          <p:cNvPr id="17" name="Image 4" descr="/home/claude/serverless_ppt/icons/arrowRight_00E5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73352"/>
            <a:ext cx="219456" cy="219456"/>
          </a:xfrm>
          <a:prstGeom prst="rect">
            <a:avLst/>
          </a:prstGeom>
        </p:spPr>
      </p:pic>
      <p:pic>
        <p:nvPicPr>
          <p:cNvPr id="18" name="Image 5" descr="/home/claude/serverless_ppt/icons/arrowRight_00E5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70632"/>
            <a:ext cx="219456" cy="21945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166360" y="2057400"/>
            <a:ext cx="1965960" cy="548640"/>
          </a:xfrm>
          <a:prstGeom prst="roundRect">
            <a:avLst>
              <a:gd name="adj" fmla="val 13333"/>
            </a:avLst>
          </a:prstGeom>
          <a:solidFill>
            <a:srgbClr val="352E85"/>
          </a:solidFill>
          <a:ln w="13970">
            <a:solidFill>
              <a:srgbClr val="00E5FF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257800" y="213969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1" name="Image 6" descr="/home/claude/serverless_ppt/icons/gear_1A14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4211" y="2226107"/>
            <a:ext cx="211226" cy="21122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733288" y="205740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(FaaS)</a:t>
            </a:r>
            <a:endParaRPr lang="en-US" sz="1150" dirty="0"/>
          </a:p>
        </p:txBody>
      </p:sp>
      <p:sp>
        <p:nvSpPr>
          <p:cNvPr id="23" name="Shape 14"/>
          <p:cNvSpPr/>
          <p:nvPr/>
        </p:nvSpPr>
        <p:spPr>
          <a:xfrm>
            <a:off x="6149340" y="2606040"/>
            <a:ext cx="0" cy="27432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4" name="Shape 15"/>
          <p:cNvSpPr/>
          <p:nvPr/>
        </p:nvSpPr>
        <p:spPr>
          <a:xfrm>
            <a:off x="4663440" y="2926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B1657"/>
          </a:solidFill>
          <a:ln w="13970">
            <a:solidFill>
              <a:srgbClr val="5B7CFA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4754880" y="300837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6" name="Image 7" descr="/home/claude/serverless_ppt/icons/database_1A14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1291" y="3094787"/>
            <a:ext cx="211226" cy="21122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30368" y="292608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6217920" y="2926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B1657"/>
          </a:solidFill>
          <a:ln w="13970">
            <a:solidFill>
              <a:srgbClr val="5B7CFA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6309360" y="300837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30" name="Image 8" descr="/home/claude/serverless_ppt/icons/box_1A144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5771" y="3094787"/>
            <a:ext cx="211226" cy="211226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784848" y="292608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502920" y="3749040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2A2470"/>
          </a:solidFill>
          <a:ln/>
        </p:spPr>
      </p:sp>
      <p:sp>
        <p:nvSpPr>
          <p:cNvPr id="33" name="Shape 22"/>
          <p:cNvSpPr/>
          <p:nvPr/>
        </p:nvSpPr>
        <p:spPr>
          <a:xfrm>
            <a:off x="694944" y="3808476"/>
            <a:ext cx="384048" cy="384048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34" name="Image 9" descr="/home/claude/serverless_ppt/icons/shield_00E5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355" y="3894887"/>
            <a:ext cx="211226" cy="211226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1188720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Security — observes and protects every layer</a:t>
            </a:r>
            <a:endParaRPr lang="en-US" sz="1100" dirty="0"/>
          </a:p>
        </p:txBody>
      </p:sp>
      <p:sp>
        <p:nvSpPr>
          <p:cNvPr id="36" name="Shape 24"/>
          <p:cNvSpPr/>
          <p:nvPr/>
        </p:nvSpPr>
        <p:spPr>
          <a:xfrm>
            <a:off x="7589520" y="1499616"/>
            <a:ext cx="457200" cy="45720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37" name="Image 10" descr="/home/claude/serverless_ppt/icons/gear_00E5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2390" y="1602486"/>
            <a:ext cx="251460" cy="25146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8183880" y="15087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</a:t>
            </a:r>
            <a:endParaRPr lang="en-US" sz="1300" dirty="0"/>
          </a:p>
        </p:txBody>
      </p:sp>
      <p:sp>
        <p:nvSpPr>
          <p:cNvPr id="39" name="Text 26"/>
          <p:cNvSpPr/>
          <p:nvPr/>
        </p:nvSpPr>
        <p:spPr>
          <a:xfrm>
            <a:off x="8183880" y="17739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Function-as-a-Service runs individual code functions on demand.</a:t>
            </a:r>
            <a:endParaRPr lang="en-US" sz="1050" dirty="0"/>
          </a:p>
        </p:txBody>
      </p:sp>
      <p:sp>
        <p:nvSpPr>
          <p:cNvPr id="40" name="Shape 27"/>
          <p:cNvSpPr/>
          <p:nvPr/>
        </p:nvSpPr>
        <p:spPr>
          <a:xfrm>
            <a:off x="7589520" y="2377440"/>
            <a:ext cx="457200" cy="45720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41" name="Image 11" descr="/home/claude/serverless_ppt/icons/plug_00E5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92390" y="2480310"/>
            <a:ext cx="251460" cy="251460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183880" y="23865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43" name="Text 29"/>
          <p:cNvSpPr/>
          <p:nvPr/>
        </p:nvSpPr>
        <p:spPr>
          <a:xfrm>
            <a:off x="8183880" y="2651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and routes HTTP requests to the right function.</a:t>
            </a:r>
            <a:endParaRPr lang="en-US" sz="1050" dirty="0"/>
          </a:p>
        </p:txBody>
      </p:sp>
      <p:sp>
        <p:nvSpPr>
          <p:cNvPr id="44" name="Shape 30"/>
          <p:cNvSpPr/>
          <p:nvPr/>
        </p:nvSpPr>
        <p:spPr>
          <a:xfrm>
            <a:off x="7589520" y="3255264"/>
            <a:ext cx="457200" cy="45720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45" name="Image 12" descr="/home/claude/serverless_ppt/icons/database_00E5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2390" y="3358134"/>
            <a:ext cx="251460" cy="251460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8183880" y="32644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47" name="Text 32"/>
          <p:cNvSpPr/>
          <p:nvPr/>
        </p:nvSpPr>
        <p:spPr>
          <a:xfrm>
            <a:off x="8183880" y="35295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often serverless, data store (e.g., DynamoDB).</a:t>
            </a:r>
            <a:endParaRPr lang="en-US" sz="1050" dirty="0"/>
          </a:p>
        </p:txBody>
      </p:sp>
      <p:sp>
        <p:nvSpPr>
          <p:cNvPr id="48" name="Shape 33"/>
          <p:cNvSpPr/>
          <p:nvPr/>
        </p:nvSpPr>
        <p:spPr>
          <a:xfrm>
            <a:off x="7589520" y="4133088"/>
            <a:ext cx="457200" cy="45720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49" name="Image 13" descr="/home/claude/serverless_ppt/icons/box_00E5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2390" y="4235958"/>
            <a:ext cx="251460" cy="251460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8183880" y="41422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51" name="Text 35"/>
          <p:cNvSpPr/>
          <p:nvPr/>
        </p:nvSpPr>
        <p:spPr>
          <a:xfrm>
            <a:off x="8183880" y="44074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for files, media, and static assets.</a:t>
            </a:r>
            <a:endParaRPr lang="en-US" sz="1050" dirty="0"/>
          </a:p>
        </p:txBody>
      </p:sp>
      <p:sp>
        <p:nvSpPr>
          <p:cNvPr id="52" name="Shape 36"/>
          <p:cNvSpPr/>
          <p:nvPr/>
        </p:nvSpPr>
        <p:spPr>
          <a:xfrm>
            <a:off x="7589520" y="5010912"/>
            <a:ext cx="457200" cy="457200"/>
          </a:xfrm>
          <a:prstGeom prst="ellipse">
            <a:avLst/>
          </a:prstGeom>
          <a:solidFill>
            <a:srgbClr val="352E85"/>
          </a:solidFill>
          <a:ln/>
        </p:spPr>
      </p:sp>
      <p:pic>
        <p:nvPicPr>
          <p:cNvPr id="53" name="Image 14" descr="/home/claude/serverless_ppt/icons/bolt_00E5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92390" y="5113782"/>
            <a:ext cx="251460" cy="251460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8183880" y="5020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Services</a:t>
            </a:r>
            <a:endParaRPr lang="en-US" sz="1300" dirty="0"/>
          </a:p>
        </p:txBody>
      </p:sp>
      <p:sp>
        <p:nvSpPr>
          <p:cNvPr id="55" name="Text 38"/>
          <p:cNvSpPr/>
          <p:nvPr/>
        </p:nvSpPr>
        <p:spPr>
          <a:xfrm>
            <a:off x="8183880" y="528523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functions from queues, timers, or file uploads.</a:t>
            </a:r>
            <a:endParaRPr lang="en-US" sz="1050" dirty="0"/>
          </a:p>
        </p:txBody>
      </p:sp>
      <p:sp>
        <p:nvSpPr>
          <p:cNvPr id="56" name="Text 3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57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Serverless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588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6044" y="1865376"/>
            <a:ext cx="658368" cy="65836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6" name="Image 0" descr="/home/claude/serverless_ppt/icons/server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36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88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Infrastructure Management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5188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provisioning, patching, or capacity planning.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5628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5084" y="1865376"/>
            <a:ext cx="658368" cy="65836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1" name="Image 1" descr="/home/claude/serverless_ppt/icons/expand_1A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676" y="20299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4228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Scaling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64228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scales with demand, up or down.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84668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4124" y="1865376"/>
            <a:ext cx="658368" cy="65836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6" name="Image 2" descr="/home/claude/serverless_ppt/icons/dollar_1A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8716" y="2029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13268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13268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actual execution time used.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86588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6044" y="4105656"/>
            <a:ext cx="658368" cy="65836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1" name="Image 3" descr="/home/claude/serverless_ppt/icons/rocket_1A14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636" y="42702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5188" y="4892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15188" y="5303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ship features without managing servers.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5628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5084" y="4105656"/>
            <a:ext cx="658368" cy="65836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6" name="Image 4" descr="/home/claude/serverless_ppt/icons/check_1A14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676" y="427024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4228" y="4892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Deployment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64228" y="5303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functions independently and quickly.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84668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4124" y="4105656"/>
            <a:ext cx="658368" cy="65836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31" name="Image 5" descr="/home/claude/serverless_ppt/icons/shield_1A14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8716" y="427024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13268" y="4892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13268" y="5303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redundancy across the provider's regions.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of Serverless Computing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588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6044" y="1865376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6" name="Image 0" descr="/home/claude/serverless_ppt/icons/clock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36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5188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5188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when a function starts after being idle.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5628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5084" y="1865376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1" name="Image 1" descr="/home/claude/serverless_ppt/icons/lock_1A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676" y="20299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4228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64228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migrate between provider ecosystems.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84668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4124" y="1865376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16" name="Image 2" descr="/home/claude/serverless_ppt/icons/bug_1A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8716" y="2029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13268" y="26517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Difficulty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13268" y="30632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functions are harder to trace and test.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86588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6044" y="4105656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1" name="Image 3" descr="/home/claude/serverless_ppt/icons/warning_1A14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636" y="42702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5188" y="4892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Limits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15188" y="5303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memory caps unsuitable for long tasks.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35628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5084" y="4105656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26" name="Image 4" descr="/home/claude/serverless_ppt/icons/shield_1A14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9676" y="427024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64228" y="4892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Concerns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64228" y="5303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attack surface across many small functions.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84668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B1657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4124" y="4105656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pic>
        <p:nvPicPr>
          <p:cNvPr id="31" name="Image 5" descr="/home/claude/serverless_ppt/icons/eye_1A14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8716" y="427024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13268" y="4892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Complexity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13268" y="5303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gain full visibility across functions.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Real-World Example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APPLICATIONS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12648" y="1773936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6" name="Image 0" descr="/home/claude/serverless_ppt/icons/plug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" y="1876806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7830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47288" y="1773936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9" name="Image 1" descr="/home/claude/serverless_ppt/icons/mobile_1A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158" y="1876806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05072" y="17830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Backends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" y="2395728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2" name="Image 2" descr="/home/claude/serverless_ppt/icons/image_1A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" y="24985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24048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3447288" y="2395728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5" name="Image 3" descr="/home/claude/serverless_ppt/icons/chip_1A14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0158" y="2498598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005072" y="24048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12648" y="301752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8" name="Image 4" descr="/home/claude/serverless_ppt/icons/robot_1A14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" y="3120390"/>
            <a:ext cx="251460" cy="2514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0432" y="30266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3447288" y="3017520"/>
            <a:ext cx="457200" cy="45720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1" name="Image 5" descr="/home/claude/serverless_ppt/icons/chart_1A14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0158" y="3120390"/>
            <a:ext cx="251460" cy="2514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005072" y="30266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SERVERLESS IMAGE PROCESSING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548640" y="42062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1B1657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882396" y="437997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6" name="Image 6" descr="/home/claude/serverless_ppt/icons/user_1A144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807" y="4466387"/>
            <a:ext cx="211226" cy="21122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76072" y="4828032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50" dirty="0"/>
          </a:p>
        </p:txBody>
      </p:sp>
      <p:pic>
        <p:nvPicPr>
          <p:cNvPr id="28" name="Image 7" descr="/home/claude/serverless_ppt/icons/arrowRight_00E5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4772" y="4809744"/>
            <a:ext cx="164592" cy="16459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1719072" y="42062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1B1657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2052828" y="437997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31" name="Image 8" descr="/home/claude/serverless_ppt/icons/box_1A144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9239" y="4466387"/>
            <a:ext cx="211226" cy="21122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746504" y="4828032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pic>
        <p:nvPicPr>
          <p:cNvPr id="33" name="Image 9" descr="/home/claude/serverless_ppt/icons/arrowRight_00E5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75204" y="4809744"/>
            <a:ext cx="164592" cy="164592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2889504" y="42062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1B1657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35" name="Shape 23"/>
          <p:cNvSpPr/>
          <p:nvPr/>
        </p:nvSpPr>
        <p:spPr>
          <a:xfrm>
            <a:off x="3223260" y="437997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36" name="Image 10" descr="/home/claude/serverless_ppt/icons/bolt_1A144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09671" y="4466387"/>
            <a:ext cx="211226" cy="211226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2916936" y="4828032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850" dirty="0"/>
          </a:p>
        </p:txBody>
      </p:sp>
      <p:pic>
        <p:nvPicPr>
          <p:cNvPr id="38" name="Image 11" descr="/home/claude/serverless_ppt/icons/arrowRight_00E5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5636" y="4809744"/>
            <a:ext cx="164592" cy="164592"/>
          </a:xfrm>
          <a:prstGeom prst="rect">
            <a:avLst/>
          </a:prstGeom>
        </p:spPr>
      </p:pic>
      <p:sp>
        <p:nvSpPr>
          <p:cNvPr id="39" name="Shape 25"/>
          <p:cNvSpPr/>
          <p:nvPr/>
        </p:nvSpPr>
        <p:spPr>
          <a:xfrm>
            <a:off x="4059936" y="42062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352E8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0" name="Shape 26"/>
          <p:cNvSpPr/>
          <p:nvPr/>
        </p:nvSpPr>
        <p:spPr>
          <a:xfrm>
            <a:off x="4393692" y="437997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41" name="Image 12" descr="/home/claude/serverless_ppt/icons/gear_1A144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0103" y="4466387"/>
            <a:ext cx="211226" cy="211226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4087368" y="4828032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850" dirty="0"/>
          </a:p>
        </p:txBody>
      </p:sp>
      <p:pic>
        <p:nvPicPr>
          <p:cNvPr id="43" name="Image 13" descr="/home/claude/serverless_ppt/icons/arrowRight_00E5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6068" y="4809744"/>
            <a:ext cx="164592" cy="164592"/>
          </a:xfrm>
          <a:prstGeom prst="rect">
            <a:avLst/>
          </a:prstGeom>
        </p:spPr>
      </p:pic>
      <p:sp>
        <p:nvSpPr>
          <p:cNvPr id="44" name="Shape 28"/>
          <p:cNvSpPr/>
          <p:nvPr/>
        </p:nvSpPr>
        <p:spPr>
          <a:xfrm>
            <a:off x="5230368" y="42062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1B1657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45" name="Shape 29"/>
          <p:cNvSpPr/>
          <p:nvPr/>
        </p:nvSpPr>
        <p:spPr>
          <a:xfrm>
            <a:off x="5564124" y="437997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46" name="Image 14" descr="/home/claude/serverless_ppt/icons/image_1A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535" y="4466387"/>
            <a:ext cx="211226" cy="211226"/>
          </a:xfrm>
          <a:prstGeom prst="rect">
            <a:avLst/>
          </a:prstGeom>
        </p:spPr>
      </p:pic>
      <p:sp>
        <p:nvSpPr>
          <p:cNvPr id="47" name="Text 30"/>
          <p:cNvSpPr/>
          <p:nvPr/>
        </p:nvSpPr>
        <p:spPr>
          <a:xfrm>
            <a:off x="5257800" y="4828032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850" dirty="0"/>
          </a:p>
        </p:txBody>
      </p:sp>
      <p:pic>
        <p:nvPicPr>
          <p:cNvPr id="48" name="Image 15" descr="/home/claude/serverless_ppt/icons/arrowRight_00E5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4809744"/>
            <a:ext cx="164592" cy="164592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6400800" y="4206240"/>
            <a:ext cx="1051560" cy="1371600"/>
          </a:xfrm>
          <a:prstGeom prst="roundRect">
            <a:avLst>
              <a:gd name="adj" fmla="val 6957"/>
            </a:avLst>
          </a:prstGeom>
          <a:solidFill>
            <a:srgbClr val="1B1657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50" name="Shape 32"/>
          <p:cNvSpPr/>
          <p:nvPr/>
        </p:nvSpPr>
        <p:spPr>
          <a:xfrm>
            <a:off x="6734556" y="4379976"/>
            <a:ext cx="384048" cy="384048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51" name="Image 16" descr="/home/claude/serverless_ppt/icons/check_1A144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20967" y="4466387"/>
            <a:ext cx="211226" cy="211226"/>
          </a:xfrm>
          <a:prstGeom prst="rect">
            <a:avLst/>
          </a:prstGeom>
        </p:spPr>
      </p:pic>
      <p:sp>
        <p:nvSpPr>
          <p:cNvPr id="52" name="Text 33"/>
          <p:cNvSpPr/>
          <p:nvPr/>
        </p:nvSpPr>
        <p:spPr>
          <a:xfrm>
            <a:off x="6428232" y="4828032"/>
            <a:ext cx="996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850" dirty="0"/>
          </a:p>
        </p:txBody>
      </p:sp>
      <p:sp>
        <p:nvSpPr>
          <p:cNvPr id="53" name="Shape 34"/>
          <p:cNvSpPr/>
          <p:nvPr/>
        </p:nvSpPr>
        <p:spPr>
          <a:xfrm>
            <a:off x="7635240" y="1417320"/>
            <a:ext cx="3977640" cy="4251960"/>
          </a:xfrm>
          <a:prstGeom prst="roundRect">
            <a:avLst>
              <a:gd name="adj" fmla="val 2299"/>
            </a:avLst>
          </a:prstGeom>
          <a:solidFill>
            <a:srgbClr val="1B1657"/>
          </a:solidFill>
          <a:ln w="12700">
            <a:solidFill>
              <a:srgbClr val="5B7CFA"/>
            </a:solidFill>
            <a:prstDash val="solid"/>
          </a:ln>
        </p:spPr>
      </p:sp>
      <p:sp>
        <p:nvSpPr>
          <p:cNvPr id="54" name="Text 35"/>
          <p:cNvSpPr/>
          <p:nvPr/>
        </p:nvSpPr>
        <p:spPr>
          <a:xfrm>
            <a:off x="786384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SERVERLESS FITS HERE</a:t>
            </a:r>
            <a:endParaRPr lang="en-US" sz="1150" dirty="0"/>
          </a:p>
        </p:txBody>
      </p:sp>
      <p:sp>
        <p:nvSpPr>
          <p:cNvPr id="55" name="Shape 36"/>
          <p:cNvSpPr/>
          <p:nvPr/>
        </p:nvSpPr>
        <p:spPr>
          <a:xfrm>
            <a:off x="7909560" y="2084832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56" name="Text 37"/>
          <p:cNvSpPr/>
          <p:nvPr/>
        </p:nvSpPr>
        <p:spPr>
          <a:xfrm>
            <a:off x="8092440" y="20116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are unpredictable &amp; bursty — no need for always-on servers</a:t>
            </a:r>
            <a:endParaRPr lang="en-US" sz="1150" dirty="0"/>
          </a:p>
        </p:txBody>
      </p:sp>
      <p:sp>
        <p:nvSpPr>
          <p:cNvPr id="57" name="Shape 38"/>
          <p:cNvSpPr/>
          <p:nvPr/>
        </p:nvSpPr>
        <p:spPr>
          <a:xfrm>
            <a:off x="7909560" y="2862072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58" name="Text 39"/>
          <p:cNvSpPr/>
          <p:nvPr/>
        </p:nvSpPr>
        <p:spPr>
          <a:xfrm>
            <a:off x="8092440" y="27889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triggers automatically per upload event</a:t>
            </a:r>
            <a:endParaRPr lang="en-US" sz="1150" dirty="0"/>
          </a:p>
        </p:txBody>
      </p:sp>
      <p:sp>
        <p:nvSpPr>
          <p:cNvPr id="59" name="Shape 40"/>
          <p:cNvSpPr/>
          <p:nvPr/>
        </p:nvSpPr>
        <p:spPr>
          <a:xfrm>
            <a:off x="7909560" y="3639312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0" name="Text 41"/>
          <p:cNvSpPr/>
          <p:nvPr/>
        </p:nvSpPr>
        <p:spPr>
          <a:xfrm>
            <a:off x="8092440" y="3566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instantly with any number of simultaneous uploads</a:t>
            </a:r>
            <a:endParaRPr lang="en-US" sz="1150" dirty="0"/>
          </a:p>
        </p:txBody>
      </p:sp>
      <p:sp>
        <p:nvSpPr>
          <p:cNvPr id="61" name="Shape 42"/>
          <p:cNvSpPr/>
          <p:nvPr/>
        </p:nvSpPr>
        <p:spPr>
          <a:xfrm>
            <a:off x="7909560" y="4416552"/>
            <a:ext cx="82296" cy="82296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2" name="Text 43"/>
          <p:cNvSpPr/>
          <p:nvPr/>
        </p:nvSpPr>
        <p:spPr>
          <a:xfrm>
            <a:off x="8092440" y="43434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each image processed, not idle time</a:t>
            </a:r>
            <a:endParaRPr lang="en-US" sz="1150" dirty="0"/>
          </a:p>
        </p:txBody>
      </p:sp>
      <p:sp>
        <p:nvSpPr>
          <p:cNvPr id="63" name="Text 4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64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2A2470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2A247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" y="1719072"/>
            <a:ext cx="329184" cy="329184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8" name="Image 0" descr="/home/claude/serverless_ppt/icons/check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5" y="1784909"/>
            <a:ext cx="197510" cy="1975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7373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infrastructure management burden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" y="2121408"/>
            <a:ext cx="329184" cy="329184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1" name="Image 1" descr="/home/claude/serverless_ppt/icons/check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5" y="2187245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1396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focus on application logic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" y="2523744"/>
            <a:ext cx="329184" cy="329184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4" name="Image 2" descr="/home/claude/serverless_ppt/icons/check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5" y="2589581"/>
            <a:ext cx="197510" cy="1975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54203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event-driven scaling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2648" y="2926080"/>
            <a:ext cx="329184" cy="329184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17" name="Image 3" descr="/home/claude/serverless_ppt/icons/check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5" y="2991917"/>
            <a:ext cx="197510" cy="1975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9443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usage-based resource use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12648" y="3328416"/>
            <a:ext cx="329184" cy="329184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0" name="Image 4" descr="/home/claude/serverless_ppt/icons/check_1A14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5" y="3394253"/>
            <a:ext cx="197510" cy="1975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51560" y="33467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cloud-native technology today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98932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62472" y="1719072"/>
            <a:ext cx="402336" cy="402336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4" name="Image 5" descr="/home/claude/serverless_ppt/icons/brain_1A14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998" y="1809598"/>
            <a:ext cx="221285" cy="22128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83680" y="173736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+ AI / ML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062472" y="2221992"/>
            <a:ext cx="402336" cy="402336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27" name="Image 6" descr="/home/claude/serverless_ppt/icons/chip_1A14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998" y="2312518"/>
            <a:ext cx="221285" cy="22128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583680" y="224028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IoT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062472" y="2724912"/>
            <a:ext cx="402336" cy="402336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30" name="Image 7" descr="/home/claude/serverless_ppt/icons/globe_1A144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998" y="2815438"/>
            <a:ext cx="221285" cy="22128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583680" y="27432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6062472" y="3227832"/>
            <a:ext cx="402336" cy="402336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33" name="Image 8" descr="/home/claude/serverless_ppt/icons/shield_1A14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2998" y="3318358"/>
            <a:ext cx="221285" cy="22128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583680" y="324612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Performance &amp; Security</a:t>
            </a:r>
            <a:endParaRPr lang="en-US" sz="1250" dirty="0"/>
          </a:p>
        </p:txBody>
      </p:sp>
      <p:sp>
        <p:nvSpPr>
          <p:cNvPr id="35" name="Shape 24"/>
          <p:cNvSpPr/>
          <p:nvPr/>
        </p:nvSpPr>
        <p:spPr>
          <a:xfrm>
            <a:off x="548640" y="3977640"/>
            <a:ext cx="11064240" cy="1417320"/>
          </a:xfrm>
          <a:prstGeom prst="rect">
            <a:avLst/>
          </a:prstGeom>
          <a:solidFill>
            <a:srgbClr val="1B1657"/>
          </a:solidFill>
          <a:ln/>
        </p:spPr>
      </p:sp>
      <p:sp>
        <p:nvSpPr>
          <p:cNvPr id="36" name="Text 25"/>
          <p:cNvSpPr/>
          <p:nvPr/>
        </p:nvSpPr>
        <p:spPr>
          <a:xfrm>
            <a:off x="7772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86868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Serverless Documentation</a:t>
            </a:r>
            <a:endParaRPr lang="en-US" sz="1080" dirty="0"/>
          </a:p>
        </p:txBody>
      </p:sp>
      <p:sp>
        <p:nvSpPr>
          <p:cNvPr id="38" name="Text 27"/>
          <p:cNvSpPr/>
          <p:nvPr/>
        </p:nvSpPr>
        <p:spPr>
          <a:xfrm>
            <a:off x="6355080" y="4434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Azure Functions Documentation</a:t>
            </a:r>
            <a:endParaRPr lang="en-US" sz="1080" dirty="0"/>
          </a:p>
        </p:txBody>
      </p:sp>
      <p:sp>
        <p:nvSpPr>
          <p:cNvPr id="39" name="Text 28"/>
          <p:cNvSpPr/>
          <p:nvPr/>
        </p:nvSpPr>
        <p:spPr>
          <a:xfrm>
            <a:off x="868680" y="4727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Cloud Functions Documentation</a:t>
            </a:r>
            <a:endParaRPr lang="en-US" sz="1080" dirty="0"/>
          </a:p>
        </p:txBody>
      </p:sp>
      <p:sp>
        <p:nvSpPr>
          <p:cNvPr id="40" name="Text 29"/>
          <p:cNvSpPr/>
          <p:nvPr/>
        </p:nvSpPr>
        <p:spPr>
          <a:xfrm>
            <a:off x="6355080" y="47274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IBM Cloud Functions Documentation</a:t>
            </a:r>
            <a:endParaRPr lang="en-US" sz="1080" dirty="0"/>
          </a:p>
        </p:txBody>
      </p:sp>
      <p:sp>
        <p:nvSpPr>
          <p:cNvPr id="41" name="Text 30"/>
          <p:cNvSpPr/>
          <p:nvPr/>
        </p:nvSpPr>
        <p:spPr>
          <a:xfrm>
            <a:off x="868680" y="50200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B9C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 Computing textbooks / research papers</a:t>
            </a:r>
            <a:endParaRPr lang="en-US" sz="1080" dirty="0"/>
          </a:p>
        </p:txBody>
      </p:sp>
      <p:sp>
        <p:nvSpPr>
          <p:cNvPr id="42" name="Text 31"/>
          <p:cNvSpPr/>
          <p:nvPr/>
        </p:nvSpPr>
        <p:spPr>
          <a:xfrm>
            <a:off x="548640" y="5623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43" name="Text 32"/>
          <p:cNvSpPr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500" dirty="0"/>
          </a:p>
        </p:txBody>
      </p:sp>
      <p:sp>
        <p:nvSpPr>
          <p:cNvPr id="44" name="Shape 33"/>
          <p:cNvSpPr/>
          <p:nvPr/>
        </p:nvSpPr>
        <p:spPr>
          <a:xfrm>
            <a:off x="10721340" y="5600700"/>
            <a:ext cx="868680" cy="868680"/>
          </a:xfrm>
          <a:prstGeom prst="ellipse">
            <a:avLst/>
          </a:prstGeom>
          <a:solidFill>
            <a:srgbClr val="00E5FF"/>
          </a:solidFill>
          <a:ln/>
        </p:spPr>
      </p:sp>
      <p:pic>
        <p:nvPicPr>
          <p:cNvPr id="45" name="Image 9" descr="/home/claude/serverless_ppt/icons/question_1A144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8510" y="5817870"/>
            <a:ext cx="434340" cy="43434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COMPUTING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Rid er</cp:lastModifiedBy>
  <cp:revision>3</cp:revision>
  <dcterms:created xsi:type="dcterms:W3CDTF">2026-08-12T09:06:47Z</dcterms:created>
  <dcterms:modified xsi:type="dcterms:W3CDTF">2026-08-12T09:15:42Z</dcterms:modified>
</cp:coreProperties>
</file>